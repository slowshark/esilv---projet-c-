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1088A0-35EA-4B7A-AABE-FCE4934C7805}" v="1" dt="2026-04-21T18:14:06.1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NG Yvanthivong" userId="2601d5ea-4113-4338-b374-5bd7ee10d0db" providerId="ADAL" clId="{EB65A12A-7863-43D4-A973-FE7A89994613}"/>
    <pc:docChg chg="undo custSel modSld">
      <pc:chgData name="UNG Yvanthivong" userId="2601d5ea-4113-4338-b374-5bd7ee10d0db" providerId="ADAL" clId="{EB65A12A-7863-43D4-A973-FE7A89994613}" dt="2026-04-21T18:30:54.488" v="517" actId="20577"/>
      <pc:docMkLst>
        <pc:docMk/>
      </pc:docMkLst>
      <pc:sldChg chg="modSp mod">
        <pc:chgData name="UNG Yvanthivong" userId="2601d5ea-4113-4338-b374-5bd7ee10d0db" providerId="ADAL" clId="{EB65A12A-7863-43D4-A973-FE7A89994613}" dt="2026-04-21T18:14:22.053" v="126" actId="20577"/>
        <pc:sldMkLst>
          <pc:docMk/>
          <pc:sldMk cId="0" sldId="256"/>
        </pc:sldMkLst>
        <pc:spChg chg="mod">
          <ac:chgData name="UNG Yvanthivong" userId="2601d5ea-4113-4338-b374-5bd7ee10d0db" providerId="ADAL" clId="{EB65A12A-7863-43D4-A973-FE7A89994613}" dt="2026-04-21T18:14:22.053" v="126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UNG Yvanthivong" userId="2601d5ea-4113-4338-b374-5bd7ee10d0db" providerId="ADAL" clId="{EB65A12A-7863-43D4-A973-FE7A89994613}" dt="2026-04-21T18:12:31.337" v="94" actId="20577"/>
          <ac:spMkLst>
            <pc:docMk/>
            <pc:sldMk cId="0" sldId="256"/>
            <ac:spMk id="6" creationId="{00000000-0000-0000-0000-000000000000}"/>
          </ac:spMkLst>
        </pc:spChg>
      </pc:sldChg>
      <pc:sldChg chg="addSp delSp modSp mod">
        <pc:chgData name="UNG Yvanthivong" userId="2601d5ea-4113-4338-b374-5bd7ee10d0db" providerId="ADAL" clId="{EB65A12A-7863-43D4-A973-FE7A89994613}" dt="2026-04-21T18:15:44.847" v="218" actId="20577"/>
        <pc:sldMkLst>
          <pc:docMk/>
          <pc:sldMk cId="0" sldId="258"/>
        </pc:sldMkLst>
        <pc:spChg chg="mod">
          <ac:chgData name="UNG Yvanthivong" userId="2601d5ea-4113-4338-b374-5bd7ee10d0db" providerId="ADAL" clId="{EB65A12A-7863-43D4-A973-FE7A89994613}" dt="2026-04-21T18:15:44.847" v="218" actId="20577"/>
          <ac:spMkLst>
            <pc:docMk/>
            <pc:sldMk cId="0" sldId="258"/>
            <ac:spMk id="4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1.673" v="108" actId="478"/>
          <ac:spMkLst>
            <pc:docMk/>
            <pc:sldMk cId="0" sldId="258"/>
            <ac:spMk id="5" creationId="{00000000-0000-0000-0000-000000000000}"/>
          </ac:spMkLst>
        </pc:spChg>
        <pc:spChg chg="del mod">
          <ac:chgData name="UNG Yvanthivong" userId="2601d5ea-4113-4338-b374-5bd7ee10d0db" providerId="ADAL" clId="{EB65A12A-7863-43D4-A973-FE7A89994613}" dt="2026-04-21T18:13:21.673" v="108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7.047" v="109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7.047" v="109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7.047" v="109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7.047" v="109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1.673" v="108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1.673" v="108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1.673" v="108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1.673" v="108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1.673" v="108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1.673" v="108" actId="478"/>
          <ac:spMkLst>
            <pc:docMk/>
            <pc:sldMk cId="0" sldId="258"/>
            <ac:spMk id="24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1.673" v="108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9.213" v="110" actId="478"/>
          <ac:spMkLst>
            <pc:docMk/>
            <pc:sldMk cId="0" sldId="258"/>
            <ac:spMk id="28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9.213" v="110" actId="478"/>
          <ac:spMkLst>
            <pc:docMk/>
            <pc:sldMk cId="0" sldId="258"/>
            <ac:spMk id="29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9.213" v="110" actId="478"/>
          <ac:spMkLst>
            <pc:docMk/>
            <pc:sldMk cId="0" sldId="258"/>
            <ac:spMk id="30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9.213" v="110" actId="478"/>
          <ac:spMkLst>
            <pc:docMk/>
            <pc:sldMk cId="0" sldId="258"/>
            <ac:spMk id="31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34.808" v="113" actId="478"/>
          <ac:spMkLst>
            <pc:docMk/>
            <pc:sldMk cId="0" sldId="258"/>
            <ac:spMk id="32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34.808" v="113" actId="478"/>
          <ac:spMkLst>
            <pc:docMk/>
            <pc:sldMk cId="0" sldId="258"/>
            <ac:spMk id="33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34.808" v="113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21.673" v="108" actId="478"/>
          <ac:spMkLst>
            <pc:docMk/>
            <pc:sldMk cId="0" sldId="258"/>
            <ac:spMk id="36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34.808" v="113" actId="478"/>
          <ac:spMkLst>
            <pc:docMk/>
            <pc:sldMk cId="0" sldId="258"/>
            <ac:spMk id="38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34.808" v="113" actId="478"/>
          <ac:spMkLst>
            <pc:docMk/>
            <pc:sldMk cId="0" sldId="258"/>
            <ac:spMk id="39" creationId="{00000000-0000-0000-0000-000000000000}"/>
          </ac:spMkLst>
        </pc:spChg>
        <pc:spChg chg="del">
          <ac:chgData name="UNG Yvanthivong" userId="2601d5ea-4113-4338-b374-5bd7ee10d0db" providerId="ADAL" clId="{EB65A12A-7863-43D4-A973-FE7A89994613}" dt="2026-04-21T18:13:34.808" v="113" actId="478"/>
          <ac:spMkLst>
            <pc:docMk/>
            <pc:sldMk cId="0" sldId="258"/>
            <ac:spMk id="40" creationId="{00000000-0000-0000-0000-000000000000}"/>
          </ac:spMkLst>
        </pc:spChg>
        <pc:picChg chg="add mod">
          <ac:chgData name="UNG Yvanthivong" userId="2601d5ea-4113-4338-b374-5bd7ee10d0db" providerId="ADAL" clId="{EB65A12A-7863-43D4-A973-FE7A89994613}" dt="2026-04-21T18:13:52.871" v="117" actId="1076"/>
          <ac:picMkLst>
            <pc:docMk/>
            <pc:sldMk cId="0" sldId="258"/>
            <ac:picMk id="44" creationId="{73F8BBFF-77BB-50D9-ED8D-0864C04E6746}"/>
          </ac:picMkLst>
        </pc:picChg>
      </pc:sldChg>
      <pc:sldChg chg="modSp mod">
        <pc:chgData name="UNG Yvanthivong" userId="2601d5ea-4113-4338-b374-5bd7ee10d0db" providerId="ADAL" clId="{EB65A12A-7863-43D4-A973-FE7A89994613}" dt="2026-04-21T18:14:50.248" v="140" actId="20577"/>
        <pc:sldMkLst>
          <pc:docMk/>
          <pc:sldMk cId="0" sldId="259"/>
        </pc:sldMkLst>
        <pc:spChg chg="mod">
          <ac:chgData name="UNG Yvanthivong" userId="2601d5ea-4113-4338-b374-5bd7ee10d0db" providerId="ADAL" clId="{EB65A12A-7863-43D4-A973-FE7A89994613}" dt="2026-04-21T18:14:50.248" v="140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UNG Yvanthivong" userId="2601d5ea-4113-4338-b374-5bd7ee10d0db" providerId="ADAL" clId="{EB65A12A-7863-43D4-A973-FE7A89994613}" dt="2026-04-21T18:14:54.460" v="147" actId="20577"/>
        <pc:sldMkLst>
          <pc:docMk/>
          <pc:sldMk cId="0" sldId="260"/>
        </pc:sldMkLst>
        <pc:spChg chg="mod">
          <ac:chgData name="UNG Yvanthivong" userId="2601d5ea-4113-4338-b374-5bd7ee10d0db" providerId="ADAL" clId="{EB65A12A-7863-43D4-A973-FE7A89994613}" dt="2026-04-21T18:14:54.460" v="147" actId="2057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UNG Yvanthivong" userId="2601d5ea-4113-4338-b374-5bd7ee10d0db" providerId="ADAL" clId="{EB65A12A-7863-43D4-A973-FE7A89994613}" dt="2026-04-21T18:30:54.488" v="517" actId="20577"/>
        <pc:sldMkLst>
          <pc:docMk/>
          <pc:sldMk cId="0" sldId="261"/>
        </pc:sldMkLst>
        <pc:spChg chg="mod">
          <ac:chgData name="UNG Yvanthivong" userId="2601d5ea-4113-4338-b374-5bd7ee10d0db" providerId="ADAL" clId="{EB65A12A-7863-43D4-A973-FE7A89994613}" dt="2026-04-21T18:30:34.230" v="494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UNG Yvanthivong" userId="2601d5ea-4113-4338-b374-5bd7ee10d0db" providerId="ADAL" clId="{EB65A12A-7863-43D4-A973-FE7A89994613}" dt="2026-04-21T18:30:54.488" v="517" actId="20577"/>
          <ac:spMkLst>
            <pc:docMk/>
            <pc:sldMk cId="0" sldId="261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Projet C# : Convertisseur CSV vers SVG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E6A028"/>
                </a:solidFill>
              </a:defRPr>
            </a:pPr>
            <a:r>
              <a:t>Programmation Orientee Objet en C#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19396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CDCE1"/>
                </a:solidFill>
              </a:defRPr>
            </a:pPr>
            <a:r>
              <a:rPr lang="fr-FR" dirty="0" err="1"/>
              <a:t>Ribere</a:t>
            </a:r>
            <a:r>
              <a:rPr lang="fr-FR" dirty="0"/>
              <a:t> </a:t>
            </a:r>
            <a:r>
              <a:rPr lang="fr-FR" dirty="0" err="1"/>
              <a:t>Jaël</a:t>
            </a:r>
            <a:r>
              <a:rPr lang="fr-FR" dirty="0"/>
              <a:t>  |Ung Yvanthivong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CDCE1"/>
                </a:solidFill>
              </a:defRPr>
            </a:pPr>
            <a:r>
              <a:rPr dirty="0"/>
              <a:t>ESILV - A3 - Annee 2025-2026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6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6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A028"/>
                </a:solidFill>
              </a:defRPr>
            </a:pPr>
            <a:r>
              <a:t>Objectif du Projet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754880"/>
          </a:xfrm>
          <a:prstGeom prst="rect">
            <a:avLst/>
          </a:prstGeom>
          <a:solidFill>
            <a:srgbClr val="1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Convertir des fichiers CSV en fichiers SVG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DCDCE1"/>
                </a:solidFill>
              </a:defRPr>
            </a:pPr>
            <a:r>
              <a:t>Un fichier CSV decrit des formes geometriques (cercle, rectangle, ellipse, polygone, chemin, texte)</a:t>
            </a:r>
          </a:p>
          <a:p>
            <a:pPr>
              <a:spcAft>
                <a:spcPts val="800"/>
              </a:spcAft>
              <a:defRPr sz="1600">
                <a:solidFill>
                  <a:srgbClr val="DCDCE1"/>
                </a:solidFill>
              </a:defRPr>
            </a:pPr>
            <a:r>
              <a:t>Chaque forme a une couleur RGB, un ordre d'affichage et des transformations possibles</a:t>
            </a:r>
          </a:p>
          <a:p>
            <a:pPr>
              <a:spcAft>
                <a:spcPts val="800"/>
              </a:spcAft>
              <a:defRPr sz="1600">
                <a:solidFill>
                  <a:srgbClr val="DCDCE1"/>
                </a:solidFill>
              </a:defRPr>
            </a:pPr>
            <a:r>
              <a:t>Le programme lit le CSV, cree les objets, les trie par ordre, et genere le SVG correspondant</a:t>
            </a:r>
          </a:p>
          <a:p>
            <a:pPr>
              <a:spcAft>
                <a:spcPts val="800"/>
              </a:spcAft>
              <a:defRPr sz="1600">
                <a:solidFill>
                  <a:srgbClr val="DCDCE1"/>
                </a:solidFill>
              </a:defRPr>
            </a:pPr>
            <a:r>
              <a:t>Le SVG est un format texte affichable dans un navigateur web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029200" cy="4754880"/>
          </a:xfrm>
          <a:prstGeom prst="rect">
            <a:avLst/>
          </a:prstGeom>
          <a:solidFill>
            <a:srgbClr val="1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Pipeline de conversion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2560320"/>
            <a:ext cx="3657600" cy="1097280"/>
          </a:xfrm>
          <a:prstGeom prst="rect">
            <a:avLst/>
          </a:prstGeom>
          <a:solidFill>
            <a:srgbClr val="E6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1E46"/>
                </a:solidFill>
              </a:defRPr>
            </a:pPr>
            <a:r>
              <a:t>Fichier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41E46"/>
                </a:solidFill>
              </a:defRPr>
            </a:pPr>
            <a:r>
              <a:t>Cercle;1;100;50;40;255;255;0;1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374903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A028"/>
                </a:solidFill>
              </a:defRPr>
            </a:pPr>
            <a:r>
              <a:t>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206240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41E46"/>
                </a:solidFill>
              </a:defRPr>
            </a:pPr>
            <a:r>
              <a:t>Programme C#  (Classe Dessin)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49377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6A028"/>
                </a:solidFill>
              </a:defRPr>
            </a:pPr>
            <a:r>
              <a:t>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5394960"/>
            <a:ext cx="3657600" cy="731520"/>
          </a:xfrm>
          <a:prstGeom prst="rect">
            <a:avLst/>
          </a:prstGeom>
          <a:solidFill>
            <a:srgbClr val="326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0" y="544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Fichier SVG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760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CDCE1"/>
                </a:solidFill>
              </a:defRPr>
            </a:pPr>
            <a:r>
              <a:t>&lt;circle cx="100" ... /&gt;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6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1208" y="280744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A028"/>
                </a:solidFill>
              </a:defRPr>
            </a:pPr>
            <a:r>
              <a:rPr dirty="0"/>
              <a:t> </a:t>
            </a:r>
            <a:r>
              <a:rPr lang="fr-FR" dirty="0"/>
              <a:t>Diagramme de Classes</a:t>
            </a:r>
            <a:endParaRPr dirty="0"/>
          </a:p>
        </p:txBody>
      </p:sp>
      <p:sp>
        <p:nvSpPr>
          <p:cNvPr id="41" name="Rectangle 40"/>
          <p:cNvSpPr/>
          <p:nvPr/>
        </p:nvSpPr>
        <p:spPr>
          <a:xfrm>
            <a:off x="274320" y="5760720"/>
            <a:ext cx="11612880" cy="914400"/>
          </a:xfrm>
          <a:prstGeom prst="rect">
            <a:avLst/>
          </a:prstGeom>
          <a:solidFill>
            <a:srgbClr val="1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5806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A028"/>
                </a:solidFill>
              </a:defRPr>
            </a:pPr>
            <a:r>
              <a:t>Concepts :  Classe abstraite  |  Heritage (: base)  |  Polymorphisme (override)  |  Interface IComparable  |  List&lt;Transformation&gt;</a:t>
            </a: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73F8BBFF-77BB-50D9-ED8D-0864C04E6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981939"/>
            <a:ext cx="10991088" cy="46690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6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A028"/>
                </a:solidFill>
              </a:defRPr>
            </a:pPr>
            <a:r>
              <a:rPr dirty="0"/>
              <a:t> Lecture du </a:t>
            </a:r>
            <a:r>
              <a:rPr dirty="0" err="1"/>
              <a:t>fichier</a:t>
            </a:r>
            <a:r>
              <a:rPr dirty="0"/>
              <a:t> CSV (Classe Dessin)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solidFill>
            <a:srgbClr val="1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</a:defRPr>
            </a:pPr>
            <a:r>
              <a:t>Methode LireFichierCSV(string chemin)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t>1. Ouvrir le fichier avec StreamReader</a:t>
            </a:r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t>2. Lire chaque ligne avec ReadLine()</a:t>
            </a:r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t>3. Decouper la ligne avec Split(';')</a:t>
            </a:r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t>4. Identifier le type (1er champ)</a:t>
            </a:r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t>5. Convertir les textes en nombres :</a:t>
            </a:r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t>     int.Parse()  /  double.Parse()</a:t>
            </a:r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t>6. Creer l'objet forme correspondant</a:t>
            </a:r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t>     -&gt; Polymorphisme : new Cercle(), new Rectangle()...</a:t>
            </a:r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t>7. Ajouter a la List&lt;Forme&gt; avec Add()</a:t>
            </a:r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t>8. Appliquer les transformations par idElement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A028"/>
                </a:solidFill>
              </a:defRPr>
            </a:pPr>
            <a:r>
              <a:t>Extrait de code - CreerForme()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string[] champs = </a:t>
            </a:r>
            <a:r>
              <a:rPr dirty="0" err="1"/>
              <a:t>ligne.Split</a:t>
            </a:r>
            <a:r>
              <a:rPr dirty="0"/>
              <a:t>(';');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string type = champs[0].Trim();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switch (type)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{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    case "Cercle":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        return new Cercle(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idElement</a:t>
            </a:r>
            <a:r>
              <a:rPr dirty="0"/>
              <a:t>,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int.Parse</a:t>
            </a:r>
            <a:r>
              <a:rPr dirty="0"/>
              <a:t>(champs[8]),    // </a:t>
            </a:r>
            <a:r>
              <a:rPr dirty="0" err="1"/>
              <a:t>ordre</a:t>
            </a:r>
            <a:endParaRPr dirty="0"/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int.Parse</a:t>
            </a:r>
            <a:r>
              <a:rPr dirty="0"/>
              <a:t>(champs[5]),    // R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int.Parse</a:t>
            </a:r>
            <a:r>
              <a:rPr dirty="0"/>
              <a:t>(champs[6]),    // G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int.Parse</a:t>
            </a:r>
            <a:r>
              <a:rPr dirty="0"/>
              <a:t>(champs[7]),    // B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double.Parse</a:t>
            </a:r>
            <a:r>
              <a:rPr dirty="0"/>
              <a:t>(champs[2]), // cx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double.Parse</a:t>
            </a:r>
            <a:r>
              <a:rPr dirty="0"/>
              <a:t>(champs[3]), // cy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double.Parse</a:t>
            </a:r>
            <a:r>
              <a:rPr dirty="0"/>
              <a:t>(champs[4]) // r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        );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    case "Rectangle": ...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    case "Ellipse": ...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6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A028"/>
                </a:solidFill>
              </a:defRPr>
            </a:pPr>
            <a:r>
              <a:rPr dirty="0"/>
              <a:t> </a:t>
            </a:r>
            <a:r>
              <a:rPr dirty="0" err="1"/>
              <a:t>Ecriture</a:t>
            </a:r>
            <a:r>
              <a:rPr dirty="0"/>
              <a:t> SVG et Tri par </a:t>
            </a:r>
            <a:r>
              <a:rPr dirty="0" err="1"/>
              <a:t>ordre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solidFill>
            <a:srgbClr val="1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</a:defRPr>
            </a:pPr>
            <a:r>
              <a:t>Methode EcrireFichierSVG(string chemin)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rPr dirty="0"/>
              <a:t>1. Trier la List&lt;</a:t>
            </a:r>
            <a:r>
              <a:rPr dirty="0" err="1"/>
              <a:t>Forme</a:t>
            </a:r>
            <a:r>
              <a:rPr dirty="0"/>
              <a:t>&gt; avec Sort()</a:t>
            </a:r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rPr dirty="0"/>
              <a:t>     -&gt; </a:t>
            </a:r>
            <a:r>
              <a:rPr dirty="0" err="1"/>
              <a:t>Utilise</a:t>
            </a:r>
            <a:r>
              <a:rPr dirty="0"/>
              <a:t> </a:t>
            </a:r>
            <a:r>
              <a:rPr dirty="0" err="1"/>
              <a:t>IComparable</a:t>
            </a:r>
            <a:r>
              <a:rPr dirty="0"/>
              <a:t> / </a:t>
            </a:r>
            <a:r>
              <a:rPr dirty="0" err="1"/>
              <a:t>CompareTo</a:t>
            </a:r>
            <a:r>
              <a:rPr dirty="0"/>
              <a:t>()</a:t>
            </a:r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rPr dirty="0"/>
              <a:t>2. </a:t>
            </a:r>
            <a:r>
              <a:rPr dirty="0" err="1"/>
              <a:t>Ouvrir</a:t>
            </a:r>
            <a:r>
              <a:rPr dirty="0"/>
              <a:t> le </a:t>
            </a:r>
            <a:r>
              <a:rPr dirty="0" err="1"/>
              <a:t>fichier</a:t>
            </a:r>
            <a:r>
              <a:rPr dirty="0"/>
              <a:t> avec </a:t>
            </a:r>
            <a:r>
              <a:rPr dirty="0" err="1"/>
              <a:t>StreamWriter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rPr dirty="0"/>
              <a:t>3. </a:t>
            </a:r>
            <a:r>
              <a:rPr dirty="0" err="1"/>
              <a:t>Ecrire</a:t>
            </a:r>
            <a:r>
              <a:rPr dirty="0"/>
              <a:t> la </a:t>
            </a:r>
            <a:r>
              <a:rPr dirty="0" err="1"/>
              <a:t>balise</a:t>
            </a:r>
            <a:r>
              <a:rPr dirty="0"/>
              <a:t> &lt;</a:t>
            </a:r>
            <a:r>
              <a:rPr dirty="0" err="1"/>
              <a:t>svg</a:t>
            </a:r>
            <a:r>
              <a:rPr dirty="0"/>
              <a:t>&gt; (</a:t>
            </a:r>
            <a:r>
              <a:rPr dirty="0" err="1"/>
              <a:t>en</a:t>
            </a:r>
            <a:r>
              <a:rPr dirty="0"/>
              <a:t>-tete)</a:t>
            </a:r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rPr dirty="0"/>
              <a:t>4. foreach : </a:t>
            </a:r>
            <a:r>
              <a:rPr dirty="0" err="1"/>
              <a:t>appeler</a:t>
            </a:r>
            <a:r>
              <a:rPr dirty="0"/>
              <a:t> </a:t>
            </a:r>
            <a:r>
              <a:rPr dirty="0" err="1"/>
              <a:t>GenererBaliseSvg</a:t>
            </a:r>
            <a:r>
              <a:rPr dirty="0"/>
              <a:t>()</a:t>
            </a:r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rPr dirty="0"/>
              <a:t>     -&gt; </a:t>
            </a:r>
            <a:r>
              <a:rPr dirty="0" err="1"/>
              <a:t>Polymorphisme</a:t>
            </a:r>
            <a:r>
              <a:rPr dirty="0"/>
              <a:t> : </a:t>
            </a:r>
            <a:r>
              <a:rPr dirty="0" err="1"/>
              <a:t>chaque</a:t>
            </a:r>
            <a:r>
              <a:rPr dirty="0"/>
              <a:t> </a:t>
            </a:r>
            <a:r>
              <a:rPr dirty="0" err="1"/>
              <a:t>forme</a:t>
            </a:r>
            <a:endParaRPr dirty="0"/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rPr dirty="0"/>
              <a:t>        </a:t>
            </a:r>
            <a:r>
              <a:rPr dirty="0" err="1"/>
              <a:t>genere</a:t>
            </a:r>
            <a:r>
              <a:rPr dirty="0"/>
              <a:t> SA propre </a:t>
            </a:r>
            <a:r>
              <a:rPr dirty="0" err="1"/>
              <a:t>balise</a:t>
            </a:r>
            <a:r>
              <a:rPr dirty="0"/>
              <a:t> SVG</a:t>
            </a:r>
          </a:p>
          <a:p>
            <a:pPr>
              <a:spcAft>
                <a:spcPts val="800"/>
              </a:spcAft>
              <a:defRPr sz="1500">
                <a:solidFill>
                  <a:srgbClr val="DCDCE1"/>
                </a:solidFill>
              </a:defRPr>
            </a:pPr>
            <a:r>
              <a:rPr dirty="0"/>
              <a:t>5. </a:t>
            </a:r>
            <a:r>
              <a:rPr dirty="0" err="1"/>
              <a:t>Ecrire</a:t>
            </a:r>
            <a:r>
              <a:rPr dirty="0"/>
              <a:t> la </a:t>
            </a:r>
            <a:r>
              <a:rPr dirty="0" err="1"/>
              <a:t>balise</a:t>
            </a:r>
            <a:r>
              <a:rPr dirty="0"/>
              <a:t> &lt;/</a:t>
            </a:r>
            <a:r>
              <a:rPr dirty="0" err="1"/>
              <a:t>svg</a:t>
            </a:r>
            <a:r>
              <a:rPr dirty="0"/>
              <a:t>&gt; (fermeture)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274320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A028"/>
                </a:solidFill>
              </a:defRPr>
            </a:pPr>
            <a:r>
              <a:t>Extrait de code - EcrireFichierSVG()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t>elements.Sort(); // IComparable&lt;Forme&gt;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t>using (StreamWriter ecrivain =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t>            new StreamWriter(cheminFichier))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t>    ecrivain.WriteLine("&lt;svg ...&gt;");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t>    foreach (Forme forme in elements)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t>    {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t>        // Polymorphisme : override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t>        ecrivain.WriteLine(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t>            forme.GenererBaliseSvg());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endParaRPr/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t>    ecrivain.WriteLine("&lt;/svg&gt;");</a:t>
            </a:r>
          </a:p>
          <a:p>
            <a:pPr>
              <a:spcAft>
                <a:spcPts val="100"/>
              </a:spcAft>
              <a:defRPr sz="1100">
                <a:solidFill>
                  <a:srgbClr val="96E696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89120"/>
            <a:ext cx="10972800" cy="2194560"/>
          </a:xfrm>
          <a:prstGeom prst="rect">
            <a:avLst/>
          </a:prstGeom>
          <a:solidFill>
            <a:srgbClr val="1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A028"/>
                </a:solidFill>
              </a:defRPr>
            </a:pPr>
            <a:r>
              <a:t>Gestion des Exceptions (try / catch)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CDCE1"/>
                </a:solidFill>
              </a:defRPr>
            </a:pPr>
            <a:r>
              <a:t>FileNotFoundException  -&gt;  Fichier CSV introuvable</a:t>
            </a:r>
          </a:p>
          <a:p>
            <a:pPr>
              <a:spcAft>
                <a:spcPts val="800"/>
              </a:spcAft>
              <a:defRPr sz="1400">
                <a:solidFill>
                  <a:srgbClr val="DCDCE1"/>
                </a:solidFill>
              </a:defRPr>
            </a:pPr>
            <a:r>
              <a:t>IOException  -&gt;  Erreur d'entree/sortie (lecture ou ecriture)</a:t>
            </a:r>
          </a:p>
          <a:p>
            <a:pPr>
              <a:spcAft>
                <a:spcPts val="800"/>
              </a:spcAft>
              <a:defRPr sz="1400">
                <a:solidFill>
                  <a:srgbClr val="DCDCE1"/>
                </a:solidFill>
              </a:defRPr>
            </a:pPr>
            <a:r>
              <a:t>FormatException  -&gt;  Echec de int.Parse() ou double.Parse() sur une valeur incorrecte</a:t>
            </a:r>
          </a:p>
          <a:p>
            <a:pPr>
              <a:spcAft>
                <a:spcPts val="800"/>
              </a:spcAft>
              <a:defRPr sz="1400">
                <a:solidFill>
                  <a:srgbClr val="DCDCE1"/>
                </a:solidFill>
              </a:defRPr>
            </a:pPr>
            <a:r>
              <a:t>IndexOutOfRangeException  -&gt;  Nombre de champs insuffisant apres Split(';')</a:t>
            </a:r>
          </a:p>
          <a:p>
            <a:pPr>
              <a:spcAft>
                <a:spcPts val="800"/>
              </a:spcAft>
              <a:defRPr sz="1400">
                <a:solidFill>
                  <a:srgbClr val="DCDCE1"/>
                </a:solidFill>
              </a:defRPr>
            </a:pPr>
            <a:r>
              <a:t>UnauthorizedAccessException  -&gt;  Pas les droits d'ecriture pour le fichier SVG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6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A028"/>
                </a:solidFill>
              </a:defRPr>
            </a:pPr>
            <a:r>
              <a:t>Demonstration et Resultats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solidFill>
            <a:srgbClr val="1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rPr lang="fr-FR" dirty="0"/>
              <a:t>6</a:t>
            </a:r>
            <a:r>
              <a:rPr dirty="0"/>
              <a:t> </a:t>
            </a:r>
            <a:r>
              <a:rPr dirty="0" err="1"/>
              <a:t>fichiers</a:t>
            </a:r>
            <a:r>
              <a:rPr dirty="0"/>
              <a:t> CSV tests avec </a:t>
            </a:r>
            <a:r>
              <a:rPr dirty="0" err="1"/>
              <a:t>succ</a:t>
            </a:r>
            <a:r>
              <a:rPr lang="fr-FR" dirty="0"/>
              <a:t>è</a:t>
            </a:r>
            <a:r>
              <a:rPr dirty="0"/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5720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DCDCE1"/>
                </a:solidFill>
              </a:defRPr>
            </a:pPr>
            <a:r>
              <a:rPr dirty="0"/>
              <a:t>ExempleTout.csv  -&gt;  9 elements (</a:t>
            </a:r>
            <a:r>
              <a:rPr dirty="0" err="1"/>
              <a:t>toutes</a:t>
            </a:r>
            <a:r>
              <a:rPr dirty="0"/>
              <a:t> les </a:t>
            </a:r>
            <a:r>
              <a:rPr dirty="0" err="1"/>
              <a:t>formes</a:t>
            </a:r>
            <a:r>
              <a:rPr dirty="0"/>
              <a:t> + transformations)</a:t>
            </a:r>
          </a:p>
          <a:p>
            <a:pPr>
              <a:spcAft>
                <a:spcPts val="800"/>
              </a:spcAft>
              <a:defRPr sz="1400">
                <a:solidFill>
                  <a:srgbClr val="DCDCE1"/>
                </a:solidFill>
              </a:defRPr>
            </a:pPr>
            <a:r>
              <a:rPr dirty="0"/>
              <a:t>MM.csv  -&gt;  22 elements (dessin </a:t>
            </a:r>
            <a:r>
              <a:rPr dirty="0" err="1"/>
              <a:t>complexe</a:t>
            </a:r>
            <a:r>
              <a:rPr dirty="0"/>
              <a:t> multi-chemins)</a:t>
            </a:r>
            <a:endParaRPr lang="fr-FR" dirty="0"/>
          </a:p>
          <a:p>
            <a:pPr>
              <a:spcAft>
                <a:spcPts val="800"/>
              </a:spcAft>
              <a:defRPr sz="1400">
                <a:solidFill>
                  <a:srgbClr val="DCDCE1"/>
                </a:solidFill>
              </a:defRPr>
            </a:pPr>
            <a:r>
              <a:rPr lang="fr-FR" dirty="0"/>
              <a:t>Banane.csv -&gt; 10 éléments (dessin de la Tour Eiffel)</a:t>
            </a:r>
          </a:p>
          <a:p>
            <a:pPr>
              <a:spcAft>
                <a:spcPts val="800"/>
              </a:spcAft>
              <a:defRPr sz="1400">
                <a:solidFill>
                  <a:srgbClr val="DCDCE1"/>
                </a:solidFill>
              </a:defRPr>
            </a:pPr>
            <a:r>
              <a:rPr lang="fr-FR" dirty="0" err="1"/>
              <a:t>Maison_simple</a:t>
            </a:r>
            <a:r>
              <a:rPr lang="fr-FR" dirty="0"/>
              <a:t> -&gt; 4 éléments ( maison avec une cheminée)</a:t>
            </a:r>
          </a:p>
          <a:p>
            <a:pPr>
              <a:spcAft>
                <a:spcPts val="800"/>
              </a:spcAft>
              <a:defRPr sz="1400">
                <a:solidFill>
                  <a:srgbClr val="DCDCE1"/>
                </a:solidFill>
              </a:defRPr>
            </a:pPr>
            <a:r>
              <a:rPr lang="fr-FR" dirty="0" err="1"/>
              <a:t>Esilv_logo</a:t>
            </a:r>
            <a:r>
              <a:rPr lang="fr-FR" dirty="0"/>
              <a:t> -&gt; 15 éléments (lettre de l’</a:t>
            </a:r>
            <a:r>
              <a:rPr lang="fr-FR" dirty="0" err="1"/>
              <a:t>esilv</a:t>
            </a:r>
            <a:r>
              <a:rPr lang="fr-FR" dirty="0"/>
              <a:t>)</a:t>
            </a:r>
          </a:p>
          <a:p>
            <a:pPr>
              <a:spcAft>
                <a:spcPts val="800"/>
              </a:spcAft>
              <a:defRPr sz="1400">
                <a:solidFill>
                  <a:srgbClr val="DCDCE1"/>
                </a:solidFill>
              </a:defRPr>
            </a:pPr>
            <a:r>
              <a:rPr lang="fr-FR" dirty="0"/>
              <a:t>Martinique -&gt; 8 éléments</a:t>
            </a:r>
          </a:p>
          <a:p>
            <a:pPr>
              <a:spcAft>
                <a:spcPts val="800"/>
              </a:spcAft>
              <a:defRPr sz="1400">
                <a:solidFill>
                  <a:srgbClr val="DCDCE1"/>
                </a:solidFill>
              </a:defRPr>
            </a:pPr>
            <a:r>
              <a:rPr lang="fr-FR" dirty="0"/>
              <a:t> 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219456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A028"/>
                </a:solidFill>
              </a:defRPr>
            </a:pPr>
            <a:r>
              <a:t>Entree : ExempleTout.csv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96E696"/>
                </a:solidFill>
                <a:latin typeface="Consolas"/>
              </a:defRPr>
            </a:pPr>
            <a:r>
              <a:t>Cercle;1;100;50;40;255;255;0;1</a:t>
            </a:r>
          </a:p>
          <a:p>
            <a:pPr>
              <a:spcAft>
                <a:spcPts val="200"/>
              </a:spcAft>
              <a:defRPr sz="1200">
                <a:solidFill>
                  <a:srgbClr val="96E696"/>
                </a:solidFill>
                <a:latin typeface="Consolas"/>
              </a:defRPr>
            </a:pPr>
            <a:r>
              <a:t>Rectangle;2;110;70;300;100;0;0;255;2</a:t>
            </a:r>
          </a:p>
          <a:p>
            <a:pPr>
              <a:spcAft>
                <a:spcPts val="200"/>
              </a:spcAft>
              <a:defRPr sz="1200">
                <a:solidFill>
                  <a:srgbClr val="96E696"/>
                </a:solidFill>
                <a:latin typeface="Consolas"/>
              </a:defRPr>
            </a:pPr>
            <a:r>
              <a:t>Ellipse;3;300;180;100;50;100;100;255;3</a:t>
            </a:r>
          </a:p>
          <a:p>
            <a:pPr>
              <a:spcAft>
                <a:spcPts val="200"/>
              </a:spcAft>
              <a:defRPr sz="1200">
                <a:solidFill>
                  <a:srgbClr val="96E696"/>
                </a:solidFill>
                <a:latin typeface="Consolas"/>
              </a:defRPr>
            </a:pPr>
            <a:r>
              <a:t>Translation;7;50;50</a:t>
            </a:r>
          </a:p>
          <a:p>
            <a:pPr>
              <a:spcAft>
                <a:spcPts val="200"/>
              </a:spcAft>
              <a:defRPr sz="1200">
                <a:solidFill>
                  <a:srgbClr val="96E696"/>
                </a:solidFill>
                <a:latin typeface="Consolas"/>
              </a:defRPr>
            </a:pPr>
            <a:r>
              <a:t>Rotation;9;30;500;600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840480"/>
            <a:ext cx="5303520" cy="2560320"/>
          </a:xfrm>
          <a:prstGeom prst="rect">
            <a:avLst/>
          </a:prstGeom>
          <a:solidFill>
            <a:srgbClr val="1E1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3931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A028"/>
                </a:solidFill>
              </a:defRPr>
            </a:pPr>
            <a:r>
              <a:t>Sortie : ExempleTout.svg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3891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64B4FF"/>
                </a:solidFill>
                <a:latin typeface="Consolas"/>
              </a:defRPr>
            </a:pPr>
            <a:r>
              <a:t>&lt;svg xmlns="..." version="1.1"&gt;</a:t>
            </a:r>
          </a:p>
          <a:p>
            <a:pPr>
              <a:spcAft>
                <a:spcPts val="100"/>
              </a:spcAft>
              <a:defRPr sz="1100">
                <a:solidFill>
                  <a:srgbClr val="64B4FF"/>
                </a:solidFill>
                <a:latin typeface="Consolas"/>
              </a:defRPr>
            </a:pPr>
            <a:r>
              <a:t>  &lt;circle cx="100" cy="50" r="40"</a:t>
            </a:r>
          </a:p>
          <a:p>
            <a:pPr>
              <a:spcAft>
                <a:spcPts val="100"/>
              </a:spcAft>
              <a:defRPr sz="1100">
                <a:solidFill>
                  <a:srgbClr val="64B4FF"/>
                </a:solidFill>
                <a:latin typeface="Consolas"/>
              </a:defRPr>
            </a:pPr>
            <a:r>
              <a:t>    style="fill:rgb(255,255,0)" /&gt;</a:t>
            </a:r>
          </a:p>
          <a:p>
            <a:pPr>
              <a:spcAft>
                <a:spcPts val="100"/>
              </a:spcAft>
              <a:defRPr sz="1100">
                <a:solidFill>
                  <a:srgbClr val="64B4FF"/>
                </a:solidFill>
                <a:latin typeface="Consolas"/>
              </a:defRPr>
            </a:pPr>
            <a:r>
              <a:t>  &lt;rect x="110" y="70" width="300"</a:t>
            </a:r>
          </a:p>
          <a:p>
            <a:pPr>
              <a:spcAft>
                <a:spcPts val="100"/>
              </a:spcAft>
              <a:defRPr sz="1100">
                <a:solidFill>
                  <a:srgbClr val="64B4FF"/>
                </a:solidFill>
                <a:latin typeface="Consolas"/>
              </a:defRPr>
            </a:pPr>
            <a:r>
              <a:t>    height="100" style="fill:rgb(0,0,255)" /&gt;</a:t>
            </a:r>
          </a:p>
          <a:p>
            <a:pPr>
              <a:spcAft>
                <a:spcPts val="100"/>
              </a:spcAft>
              <a:defRPr sz="1100">
                <a:solidFill>
                  <a:srgbClr val="64B4FF"/>
                </a:solidFill>
                <a:latin typeface="Consolas"/>
              </a:defRPr>
            </a:pPr>
            <a:r>
              <a:t>  &lt;text x="20" y="150"</a:t>
            </a:r>
          </a:p>
          <a:p>
            <a:pPr>
              <a:spcAft>
                <a:spcPts val="100"/>
              </a:spcAft>
              <a:defRPr sz="1100">
                <a:solidFill>
                  <a:srgbClr val="64B4FF"/>
                </a:solidFill>
                <a:latin typeface="Consolas"/>
              </a:defRPr>
            </a:pPr>
            <a:r>
              <a:t>    fill="rgb(10,10,124)"</a:t>
            </a:r>
          </a:p>
          <a:p>
            <a:pPr>
              <a:spcAft>
                <a:spcPts val="100"/>
              </a:spcAft>
              <a:defRPr sz="1100">
                <a:solidFill>
                  <a:srgbClr val="64B4FF"/>
                </a:solidFill>
                <a:latin typeface="Consolas"/>
              </a:defRPr>
            </a:pPr>
            <a:r>
              <a:t>    transform="translate(50,50)"&gt;</a:t>
            </a:r>
          </a:p>
          <a:p>
            <a:pPr>
              <a:spcAft>
                <a:spcPts val="100"/>
              </a:spcAft>
              <a:defRPr sz="1100">
                <a:solidFill>
                  <a:srgbClr val="64B4FF"/>
                </a:solidFill>
                <a:latin typeface="Consolas"/>
              </a:defRPr>
            </a:pPr>
            <a:r>
              <a:t>    From CSV to SVG&lt;/text&gt;</a:t>
            </a:r>
          </a:p>
          <a:p>
            <a:pPr>
              <a:spcAft>
                <a:spcPts val="100"/>
              </a:spcAft>
              <a:defRPr sz="1100">
                <a:solidFill>
                  <a:srgbClr val="64B4FF"/>
                </a:solidFill>
                <a:latin typeface="Consolas"/>
              </a:defRPr>
            </a:pPr>
            <a:r>
              <a:t>&lt;/svg&gt;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6A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6A028"/>
                </a:solidFill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286000"/>
            <a:ext cx="9418320" cy="3474720"/>
          </a:xfrm>
          <a:prstGeom prst="rect">
            <a:avLst/>
          </a:prstGeom>
          <a:solidFill>
            <a:srgbClr val="1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Concepts POO utilises dans le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DCDCE1"/>
                </a:solidFill>
              </a:defRPr>
            </a:pPr>
            <a:r>
              <a:t>Classe abstraite (Forme)</a:t>
            </a:r>
          </a:p>
          <a:p>
            <a:pPr>
              <a:spcAft>
                <a:spcPts val="800"/>
              </a:spcAft>
              <a:defRPr sz="1700">
                <a:solidFill>
                  <a:srgbClr val="DCDCE1"/>
                </a:solidFill>
              </a:defRPr>
            </a:pPr>
            <a:r>
              <a:t>Heritage (: base)</a:t>
            </a:r>
          </a:p>
          <a:p>
            <a:pPr>
              <a:spcAft>
                <a:spcPts val="800"/>
              </a:spcAft>
              <a:defRPr sz="1700">
                <a:solidFill>
                  <a:srgbClr val="DCDCE1"/>
                </a:solidFill>
              </a:defRPr>
            </a:pPr>
            <a:r>
              <a:t>Polymorphisme (virtual / override)</a:t>
            </a:r>
          </a:p>
          <a:p>
            <a:pPr>
              <a:spcAft>
                <a:spcPts val="800"/>
              </a:spcAft>
              <a:defRPr sz="1700">
                <a:solidFill>
                  <a:srgbClr val="DCDCE1"/>
                </a:solidFill>
              </a:defRPr>
            </a:pPr>
            <a:r>
              <a:t>Interface IComparable&lt;Forme&gt;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0175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DCDCE1"/>
                </a:solidFill>
              </a:defRPr>
            </a:pPr>
            <a:r>
              <a:t>Collection generique List&lt;T&gt;</a:t>
            </a:r>
          </a:p>
          <a:p>
            <a:pPr>
              <a:spcAft>
                <a:spcPts val="800"/>
              </a:spcAft>
              <a:defRPr sz="1700">
                <a:solidFill>
                  <a:srgbClr val="DCDCE1"/>
                </a:solidFill>
              </a:defRPr>
            </a:pPr>
            <a:r>
              <a:t>Parcours avec foreach</a:t>
            </a:r>
          </a:p>
          <a:p>
            <a:pPr>
              <a:spcAft>
                <a:spcPts val="800"/>
              </a:spcAft>
              <a:defRPr sz="1700">
                <a:solidFill>
                  <a:srgbClr val="DCDCE1"/>
                </a:solidFill>
              </a:defRPr>
            </a:pPr>
            <a:r>
              <a:t>Encapsulation (private / protected)</a:t>
            </a:r>
          </a:p>
          <a:p>
            <a:pPr>
              <a:spcAft>
                <a:spcPts val="800"/>
              </a:spcAft>
              <a:defRPr sz="1700">
                <a:solidFill>
                  <a:srgbClr val="DCDCE1"/>
                </a:solidFill>
              </a:defRPr>
            </a:pPr>
            <a:r>
              <a:t>Exceptions (try / catch)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6A028"/>
                </a:solidFill>
              </a:defRPr>
            </a:pPr>
            <a:r>
              <a:t>Merci - 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846</Words>
  <Application>Microsoft Office PowerPoint</Application>
  <PresentationFormat>Grand écran</PresentationFormat>
  <Paragraphs>122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UNG Yvanthivong</cp:lastModifiedBy>
  <cp:revision>1</cp:revision>
  <dcterms:created xsi:type="dcterms:W3CDTF">2013-01-27T09:14:16Z</dcterms:created>
  <dcterms:modified xsi:type="dcterms:W3CDTF">2026-04-21T18:31:03Z</dcterms:modified>
  <cp:category/>
</cp:coreProperties>
</file>